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4ACF9-07D2-54DE-6AC8-209687A31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2BF872-82B1-AC67-7C09-E5A5ABB7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9BB1D-8B58-6EA1-685B-F30453A6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634E2-9B92-6D22-850E-922A9412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697EB-943C-721D-3785-FD69CD50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7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B5D5-25E3-FC79-44F8-F73D0F3D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D6442-042C-6A2B-15B0-00274CB47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C55F6-1B25-45B2-AC25-7C334DB38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8E24-C2D7-54CA-33AC-EC72C965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53A30-1259-A9B8-89AC-9DD0822C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3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2980-DBF4-76DB-65AD-DD89BD77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5BC96-E8EE-9E70-98E7-26154F77B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F6727-0AD1-6384-BB93-C40C2C137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8BCEF-508A-1BAC-E7DA-4CE4058D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A516C-BBD2-79EE-25FE-314BD116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9BDF-9D40-7D82-A704-EB453F53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44A3-B1DA-1BE3-2506-307036006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35011-0A81-EB70-05AA-FB90567AB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938A0-AAAB-F3BE-6BBE-B39E7CAB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E85B2-796F-6E40-5973-336A3E57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0909E-3FE1-3DD2-BA59-48843A9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7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C89E-4312-9DFE-A9C2-E610BCF1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F6347-4F6F-EC71-8FA3-61D2B0181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2EA03-D9F3-72D0-66F8-A326DF5AE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E8C7C-0FF7-845B-EBBC-D792C2BFF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E150D-7C3F-2A72-A1A3-D6940BE9ED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4451A-7F95-AE6E-12AE-C9B7372D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3D28F-112C-C8D0-6C70-EB569F48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A524B-1E45-CFE5-D98F-0E6C5B34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0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8F1B-01DC-DFA9-0574-B0CB2CC2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7E261-4188-09F7-0E05-0B9EC55A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15466-8F70-C4FB-0AE2-322B3F53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0A5EA-58E9-8E4C-9EFB-AF211298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8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C94D5-8BCC-DE01-C781-033D3EA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F3B26-1FBD-17BE-78DA-3DD9F25C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226E5-30F0-A88A-5F5D-013C0F0A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4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9C43-D7C9-F5D0-8FFD-50DDBA6D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A2414-EC6C-21D1-F2D3-9280F540B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673E7-EF58-054A-0396-C8BBD378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00F04-C27F-9D78-2DB6-55305C72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0AB5B-E9EA-82DE-9926-78C0D984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0CDB9-58AA-5A28-DC23-657A65A8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6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4A77-F2DB-D0CA-F4A0-DA998D45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AF43C-3230-DBE5-E012-FCC8E86FC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4F058-FE08-C830-61E0-AE81E7CAC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6E433-6E9E-1C7D-EEC2-D0B84528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0F558-10BE-E454-A531-F8EE35C8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48ABD-6FAD-6EFD-073C-7AD0C991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7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C10A-8E29-AAFE-A667-7602C016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C1008-0EDA-433C-6E10-6C8E9C8C1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3B5BD-FE27-C88E-8BFC-0F221345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184AC-0189-5C28-B1B2-E2D5054DB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AD4BC-C5EB-7592-E160-70323C0D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9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64400-C9BD-ED39-24AD-0A78ABA6F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03103-10ED-9C66-1D4E-BFE853DA7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DEAA0-3A97-F43D-C8A7-DA9E6908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EC17C-B267-5A1F-807A-A31016E4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AC2DE-64D6-26A2-F710-0CB7A900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6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7A6E21-CE26-9384-226A-68235880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F723D-D5E9-51DC-5FED-8750512FC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E094F-BFDB-7773-5F1D-E07694037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070B3-61DD-437C-AB76-402D68D0A68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9DA82-748F-38CE-5649-56ADFDEE8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BF164-FC80-71AF-6068-81D1AE79F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73C9C-5215-4990-971D-19C28B57B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8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7194-6133-97E3-BC0D-6AB763BB7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Classification Algos compared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29241-AD7E-D452-2FC6-45495B435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Using Kaggle customer demographic/purchasing data</a:t>
            </a:r>
          </a:p>
          <a:p>
            <a:r>
              <a:rPr lang="en-US"/>
              <a:t>Algos: logistic regression, random forest, xgboost, k-nearest neighbor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6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4D5A-28C6-83EB-1057-14B4CCB2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2B51C-1EBE-95F8-BA7E-825CB0453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680"/>
            <a:ext cx="4818888" cy="49034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Rows of age, salary, and 0/1 column for whether they purchased a product or not</a:t>
            </a:r>
          </a:p>
          <a:p>
            <a:r>
              <a:rPr lang="en-US"/>
              <a:t>Break into train/test at 70/30 split</a:t>
            </a:r>
          </a:p>
          <a:p>
            <a:pPr lvl="1"/>
            <a:r>
              <a:rPr lang="en-US" dirty="0"/>
              <a:t>Compare each algorithm’s accuracy trained on train data on test data. Which algorithm is most accurate?</a:t>
            </a:r>
          </a:p>
          <a:p>
            <a:r>
              <a:rPr lang="en-US" dirty="0"/>
              <a:t>Also sensitivity (finding non-purchasers), and specificity (identifying purchasers)</a:t>
            </a:r>
          </a:p>
          <a:p>
            <a:pPr lvl="1"/>
            <a:r>
              <a:rPr lang="en-US" dirty="0"/>
              <a:t>Depending on use case, we may want to optimize for one or the other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C961D-46B3-58B2-3008-8F5D7A2D4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06" y="1825625"/>
            <a:ext cx="4818888" cy="435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6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4897-9971-6C9C-22C9-CD56B423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Data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593BB-DB6F-B0FF-D49D-482382125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92" y="1444503"/>
            <a:ext cx="9973056" cy="5150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524174-92C2-0155-1A73-23DC2DF737B1}"/>
              </a:ext>
            </a:extLst>
          </p:cNvPr>
          <p:cNvSpPr txBox="1"/>
          <p:nvPr/>
        </p:nvSpPr>
        <p:spPr>
          <a:xfrm>
            <a:off x="9073662" y="4628667"/>
            <a:ext cx="29190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See trend of purchases from richer and older visitors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63625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1F73-BE54-2618-7EE5-369E1365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C5A244-C463-305E-9857-1303094E6D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207" y="1794849"/>
            <a:ext cx="1068558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 linear model that estimates the probability of a binary outcome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An ensemble of decision trees built on bootstrapped samples that vote together to improve accuracy and reduce overfitting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 gradient boosting algorithm that builds trees sequentially, optimizing residual errors with regularization for high predictive power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K‑Nearest Neighbor (KNN)- </a:t>
            </a:r>
            <a:r>
              <a:rPr lang="en-US" sz="2400" dirty="0"/>
              <a:t>method that classifies a point based on the label of its closest training examples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en-US" sz="2400" dirty="0"/>
              <a:t>a computational model inspired by the brain, made up of interconnected layers of nodes that learn patterns in data through weighted connections and iterative training.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6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B0E8-9E82-27D9-E4E8-4D5D8E08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ED45-91E0-E4B0-F5A6-7004CAE00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linear model that estimates the probability of a binary outcome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Classic model for binary (0 and 1) prediction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Tried 2 variants</a:t>
            </a:r>
          </a:p>
          <a:p>
            <a:pPr lvl="1"/>
            <a:r>
              <a:rPr lang="en-US" dirty="0"/>
              <a:t>First, using all tunings as default (0.5 threshold)</a:t>
            </a:r>
          </a:p>
          <a:p>
            <a:pPr lvl="3"/>
            <a:r>
              <a:rPr lang="en-US" dirty="0"/>
              <a:t>Accuracy: 85%</a:t>
            </a:r>
          </a:p>
          <a:p>
            <a:pPr lvl="3"/>
            <a:r>
              <a:rPr lang="en-US" dirty="0"/>
              <a:t>Sensitivity (finding non-purchasers): 93%</a:t>
            </a:r>
          </a:p>
          <a:p>
            <a:pPr lvl="3"/>
            <a:r>
              <a:rPr lang="en-US" dirty="0"/>
              <a:t>Specificity (identifying purchasers): 69%</a:t>
            </a:r>
          </a:p>
          <a:p>
            <a:pPr lvl="1"/>
            <a:r>
              <a:rPr lang="en-US" dirty="0"/>
              <a:t>Second, used ROC Curve to find ideal threshold for more balanced Sensitivity vs Specificity (0.311 threshold)</a:t>
            </a:r>
          </a:p>
          <a:p>
            <a:pPr lvl="2"/>
            <a:r>
              <a:rPr lang="en-US" dirty="0"/>
              <a:t>The ROC curve is a plot that shows the trade‑off between a classifier’s sensitivity and 1‑specificity across different decision thresholds.</a:t>
            </a:r>
          </a:p>
          <a:p>
            <a:pPr lvl="3"/>
            <a:r>
              <a:rPr lang="en-US" dirty="0"/>
              <a:t>Accuracy: 84%</a:t>
            </a:r>
          </a:p>
          <a:p>
            <a:pPr lvl="3"/>
            <a:r>
              <a:rPr lang="en-US" dirty="0"/>
              <a:t>Sensitivity (finding non-purchasers): 84%</a:t>
            </a:r>
          </a:p>
          <a:p>
            <a:pPr lvl="3"/>
            <a:r>
              <a:rPr lang="en-US" dirty="0"/>
              <a:t>Specificity (identifying purchasers): 84%</a:t>
            </a:r>
          </a:p>
          <a:p>
            <a:pPr lvl="2"/>
            <a:r>
              <a:rPr lang="en-US" dirty="0"/>
              <a:t>Worth it to get more balance in errors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26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6895-B898-56F9-FA1D-E2A6F329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C1DB-0D66-45EA-ED77-8E945F13A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3738" cy="4351338"/>
          </a:xfrm>
        </p:spPr>
        <p:txBody>
          <a:bodyPr>
            <a:normAutofit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ensemble of decision trees built on bootstrapped samples that vote together to improve accuracy and reduce overfitting</a:t>
            </a:r>
          </a:p>
          <a:p>
            <a:pPr lvl="1"/>
            <a:r>
              <a:rPr lang="en-US" dirty="0"/>
              <a:t>Accuracy: 93.33%</a:t>
            </a:r>
          </a:p>
          <a:p>
            <a:pPr lvl="1"/>
            <a:r>
              <a:rPr lang="en-US" dirty="0"/>
              <a:t>Sensitivity (finding non-purchasers): 93%</a:t>
            </a:r>
          </a:p>
          <a:p>
            <a:pPr lvl="1"/>
            <a:r>
              <a:rPr lang="en-US" dirty="0"/>
              <a:t>Specificity (identifying purchasers): 95%</a:t>
            </a:r>
          </a:p>
        </p:txBody>
      </p:sp>
      <p:pic>
        <p:nvPicPr>
          <p:cNvPr id="4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BB027D2-C6D0-C7BF-F9DD-102B3C987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107" y="5396569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ABB1A116-C60F-7A6D-B6F8-7179FF39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639" y="1365203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30CC0941-CAA4-5374-F4E2-E799DF8D8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937" y="3721998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705872C5-91D7-2F9A-DE48-8E7B04469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631" y="1110013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34781022-EAF2-3DB7-15EB-2209EFECA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47" y="24804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051CAAEC-B21B-4D47-11FB-827CA5279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808" y="1143106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43D65DE0-617E-2EDD-8CBB-D2B431F8D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401" y="177676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2DC39872-1ECD-41F4-3D01-2D2A7CE59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16" y="3125924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DB63C02-34AC-FC4D-6079-B90BF7E6B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323" y="253928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25A05F67-7F94-01BD-82A6-D15EB598A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283" y="522493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83960D78-D145-6B6E-DC3B-0F7DBAFB4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1854" y="349004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A42CF22-BCDE-1084-B251-40D1ACAD0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479" y="335968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E97903E9-921F-8789-8C46-35AB55D6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041" y="568213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33E2E72F-2C0A-252B-F88E-5C6E825AE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847" y="40044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07CA2B3E-3E01-7775-7AB4-44B5999AA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247" y="41568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D1F3A5CD-7D6A-2D63-56C2-A04FA6DDE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047" y="44616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0DD91AA4-A5A6-AF9C-E4B4-61A48125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447" y="46140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829D93F0-EF44-BADA-7B8C-3D0D0263F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0185" y="4394127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337AC40B-B251-2DAA-F32A-C409D6255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309" y="983166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C59B164-A7A7-3BB4-3604-E494A5BAC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016" y="2058116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660B830D-D3D5-5DDF-6246-CF8E4DB0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53" y="2577257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EB0E3852-02F2-AB1A-26BE-1F9320C78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676" y="365125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57B92CD6-3191-070B-356B-8AE52B1E1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6905" y="1894939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5727E496-1261-D4CC-0A44-57BFBC81B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283" y="435663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02D0229D-54D9-281B-2B5B-FAC20B189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231" y="3397539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80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B6C1-82DC-0F70-752B-763FAE3D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C074-FF78-D7DD-3E50-6EC3D888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9E859-296B-3B9A-88D2-2412D33AD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3738" cy="4351338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A gradient boosting algorithm that builds trees sequentially, optimizing residual errors with regularization for high predictive power </a:t>
            </a:r>
            <a:r>
              <a:rPr lang="en-US" dirty="0"/>
              <a:t>Accuracy: 91.7%</a:t>
            </a:r>
          </a:p>
          <a:p>
            <a:pPr lvl="1"/>
            <a:r>
              <a:rPr lang="en-US" dirty="0"/>
              <a:t>Sensitivity (finding non-purchasers): 93%</a:t>
            </a:r>
          </a:p>
          <a:p>
            <a:pPr lvl="1"/>
            <a:r>
              <a:rPr lang="en-US" dirty="0"/>
              <a:t>Specificity (identifying purchasers): 90%</a:t>
            </a:r>
          </a:p>
        </p:txBody>
      </p:sp>
      <p:pic>
        <p:nvPicPr>
          <p:cNvPr id="4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C73F7226-98B5-3FA8-8F4C-B2182E743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107" y="5396569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E6D44ECF-5D5C-798A-8E81-36C776D0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639" y="1365203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567940D3-7D8D-DA6D-7CF4-E7764BA7A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937" y="3721998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8FDA338A-F78B-88C4-6F86-68BD78EB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631" y="1110013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4FC4FB87-41E0-DB9C-7E2E-B3A3D0FA0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47" y="24804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20697DC7-CF23-052A-517C-069EA2E29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808" y="1143106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6F05B594-1CC5-EA98-6251-92C9AD7E7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401" y="177676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83C2D15-4877-9C82-93A5-5BBC44464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16" y="3125924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A69D5617-62BD-6586-6295-68F75EA91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323" y="253928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32B4F561-5F8A-4FD6-6FA2-5733EAC7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283" y="522493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AE707EB1-611F-7259-FD62-5197C8A69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1854" y="349004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9132D5C6-43EC-8421-E445-9EC25770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479" y="335968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AEDDCF6E-F614-43EC-DB33-1DDD38B6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041" y="568213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2BA6A677-FD38-5ACD-0E72-E5976E62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847" y="40044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94E8642-47D2-19F9-79E9-E5D319DE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247" y="41568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5ECA224F-77D3-07E0-30AB-BB31EEA5F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047" y="44616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F4F5F31C-877D-D41D-0287-CC77AFADD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447" y="461405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1DD60F22-3EF1-906B-1E62-329F75CA1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0185" y="4394127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4C17428B-2371-DA5D-219E-1234033D1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309" y="983166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C6E6954A-624E-6080-5627-488B725BF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016" y="2058116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61D58BBA-4AC6-0D84-D5C0-C4B462CF2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53" y="2577257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BCDB37F5-A4C4-468A-781D-63D10FB6F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676" y="365125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D0DAC2C3-4CDB-80C3-E484-9B960D3E9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6905" y="1894939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02D1966F-63EA-116A-BEA6-8F7449B4E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283" y="4356632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Decision Trees Explained With a Practical Example | Towards AI">
            <a:extLst>
              <a:ext uri="{FF2B5EF4-FFF2-40B4-BE49-F238E27FC236}">
                <a16:creationId xmlns:a16="http://schemas.microsoft.com/office/drawing/2014/main" id="{DB81AA52-AC50-708A-82F4-403F69240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231" y="3397539"/>
            <a:ext cx="1351169" cy="9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178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E01E-0F2F-D41C-814A-8F55DC3E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performance 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211F-D204-E430-9FED-2E72D76A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variants on default </a:t>
            </a:r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dirty="0"/>
              <a:t>Let’s determine ideal number of rounds</a:t>
            </a:r>
          </a:p>
          <a:p>
            <a:pPr lvl="2"/>
            <a:r>
              <a:rPr lang="en-US" dirty="0"/>
              <a:t>Each new round in </a:t>
            </a:r>
            <a:r>
              <a:rPr lang="en-US" dirty="0" err="1"/>
              <a:t>XGBoost</a:t>
            </a:r>
            <a:r>
              <a:rPr lang="en-US" dirty="0"/>
              <a:t> corrects errors from the last round</a:t>
            </a:r>
          </a:p>
          <a:p>
            <a:pPr lvl="3"/>
            <a:r>
              <a:rPr lang="en-US" dirty="0"/>
              <a:t>Early rounds capture general rules</a:t>
            </a:r>
          </a:p>
          <a:p>
            <a:pPr lvl="3"/>
            <a:r>
              <a:rPr lang="en-US" dirty="0"/>
              <a:t>Too many rounds can lead to overfitting (on noise perhaps)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Optimal rounds, accuracy .933, sensitivity .92, specificity .95</a:t>
            </a:r>
          </a:p>
          <a:p>
            <a:pPr lvl="1"/>
            <a:r>
              <a:rPr lang="en-US" dirty="0"/>
              <a:t>Let’s optimize parameters generally</a:t>
            </a:r>
          </a:p>
          <a:p>
            <a:pPr lvl="2"/>
            <a:r>
              <a:rPr lang="en-US" dirty="0"/>
              <a:t>Use “Grid” approach and auto run 49 variants (7x7 params) to optimize accuracy</a:t>
            </a:r>
          </a:p>
          <a:p>
            <a:pPr lvl="2"/>
            <a:r>
              <a:rPr lang="en-US" dirty="0"/>
              <a:t>accuracy .933, sensitivity .93, specificity .95</a:t>
            </a:r>
          </a:p>
          <a:p>
            <a:pPr lvl="3"/>
            <a:r>
              <a:rPr lang="en-US" i="1" dirty="0"/>
              <a:t>Barely</a:t>
            </a:r>
            <a:r>
              <a:rPr lang="en-US" dirty="0"/>
              <a:t> better (.01 improvement on sensitivity)</a:t>
            </a:r>
          </a:p>
          <a:p>
            <a:pPr lvl="3"/>
            <a:r>
              <a:rPr lang="en-US" dirty="0"/>
              <a:t>But still cool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7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5B2A-21EF-6E35-D07F-A4296F18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Nearest Neighbor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F0317-F85C-8BB3-CC12-7F7A6FC4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that classifies a point based on the label of its closest training examples</a:t>
            </a:r>
          </a:p>
          <a:p>
            <a:pPr lvl="1"/>
            <a:r>
              <a:rPr lang="en-US" dirty="0"/>
              <a:t>The “k” refers to how many similar points to use</a:t>
            </a:r>
          </a:p>
          <a:p>
            <a:pPr lvl="2"/>
            <a:r>
              <a:rPr lang="en-US" dirty="0"/>
              <a:t>Small k could be oversensitive to noise, larger k could miss important differences</a:t>
            </a:r>
          </a:p>
          <a:p>
            <a:pPr lvl="2"/>
            <a:r>
              <a:rPr lang="en-US" dirty="0"/>
              <a:t>R can choose ideal k for accuracy</a:t>
            </a:r>
          </a:p>
          <a:p>
            <a:pPr lvl="1"/>
            <a:r>
              <a:rPr lang="en-US" dirty="0"/>
              <a:t>Default</a:t>
            </a:r>
          </a:p>
          <a:p>
            <a:pPr lvl="2"/>
            <a:r>
              <a:rPr lang="en-US" dirty="0"/>
              <a:t>Accuracy: 0.83, sensitivity 0.94, specificity, 0.59</a:t>
            </a:r>
          </a:p>
          <a:p>
            <a:pPr lvl="1"/>
            <a:r>
              <a:rPr lang="en-US" dirty="0"/>
              <a:t>Scaled</a:t>
            </a:r>
          </a:p>
          <a:p>
            <a:pPr lvl="2"/>
            <a:r>
              <a:rPr lang="en-US" dirty="0"/>
              <a:t>This algo works best when features have same numerical range, but our data (Age and salary) are at very different scales, so let’s put them both to variations of 0-1</a:t>
            </a:r>
          </a:p>
          <a:p>
            <a:pPr lvl="2"/>
            <a:r>
              <a:rPr lang="en-US" dirty="0"/>
              <a:t>Accuracy: 0.91, sensitivity 0.93, specificity, 0.90</a:t>
            </a:r>
          </a:p>
          <a:p>
            <a:pPr lvl="2"/>
            <a:r>
              <a:rPr lang="en-US" b="1" dirty="0"/>
              <a:t>Much better!</a:t>
            </a:r>
          </a:p>
        </p:txBody>
      </p:sp>
    </p:spTree>
    <p:extLst>
      <p:ext uri="{BB962C8B-B14F-4D97-AF65-F5344CB8AC3E}">
        <p14:creationId xmlns:p14="http://schemas.microsoft.com/office/powerpoint/2010/main" val="231746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F667-9F67-CEA0-BFE6-0B5497FE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6F642-21CC-A884-161E-1EB6B3DF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computational model inspired by the brain, made up of interconnected layers of nodes that learn patterns in data through weighted connections and iterative training</a:t>
            </a:r>
          </a:p>
          <a:p>
            <a:r>
              <a:rPr lang="en-US" dirty="0"/>
              <a:t>Kind of overkill for this simple dataset </a:t>
            </a:r>
            <a:r>
              <a:rPr lang="en-US" dirty="0" err="1"/>
              <a:t>tbh</a:t>
            </a:r>
            <a:endParaRPr lang="en-US" dirty="0"/>
          </a:p>
          <a:p>
            <a:r>
              <a:rPr lang="en-US" dirty="0"/>
              <a:t>But… it’s still worth a try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 descr="Human brain nerve cells">
            <a:extLst>
              <a:ext uri="{FF2B5EF4-FFF2-40B4-BE49-F238E27FC236}">
                <a16:creationId xmlns:a16="http://schemas.microsoft.com/office/drawing/2014/main" id="{D428271A-ED98-2126-4B74-5A4E43CCA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440" y="4300080"/>
            <a:ext cx="3410560" cy="2557920"/>
          </a:xfrm>
          <a:prstGeom prst="rect">
            <a:avLst/>
          </a:prstGeom>
        </p:spPr>
      </p:pic>
      <p:pic>
        <p:nvPicPr>
          <p:cNvPr id="7" name="Picture 6" descr="Computer Generated Lights">
            <a:extLst>
              <a:ext uri="{FF2B5EF4-FFF2-40B4-BE49-F238E27FC236}">
                <a16:creationId xmlns:a16="http://schemas.microsoft.com/office/drawing/2014/main" id="{C8D9B4E7-5707-5E20-625E-781593BDC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758" y="4300080"/>
            <a:ext cx="3456803" cy="255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5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9F1F-DC0C-1FCB-0E98-4C5FC975C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88F7-E39A-F23F-4D88-46CAC795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– 2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45B6D-F06E-DB19-E373-2345D719D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Native r version (</a:t>
            </a:r>
            <a:r>
              <a:rPr lang="en-US" dirty="0" err="1"/>
              <a:t>neuralnet</a:t>
            </a:r>
            <a:r>
              <a:rPr lang="en-US" dirty="0"/>
              <a:t>), runs in r locally, most for educational purposes</a:t>
            </a:r>
          </a:p>
          <a:p>
            <a:pPr lvl="1"/>
            <a:r>
              <a:rPr lang="en-US" dirty="0"/>
              <a:t>Accuracy: 0.85, sensitivity 0.80, specificity, 0.92</a:t>
            </a:r>
          </a:p>
          <a:p>
            <a:pPr lvl="1"/>
            <a:r>
              <a:rPr lang="en-US" dirty="0"/>
              <a:t>Not great!</a:t>
            </a:r>
          </a:p>
          <a:p>
            <a:r>
              <a:rPr lang="en-US" dirty="0" err="1"/>
              <a:t>Keras</a:t>
            </a:r>
            <a:r>
              <a:rPr lang="en-US" dirty="0"/>
              <a:t> version – uses Python TensorFlow API integration</a:t>
            </a:r>
          </a:p>
          <a:p>
            <a:pPr lvl="1"/>
            <a:r>
              <a:rPr lang="en-US" dirty="0"/>
              <a:t>Accuracy: 0.93, sensitivity 0.97, specificity, 0.87</a:t>
            </a:r>
          </a:p>
          <a:p>
            <a:pPr lvl="1"/>
            <a:r>
              <a:rPr lang="en-US" dirty="0"/>
              <a:t>Very powerful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6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EC081-CDFB-A4B1-B377-71E717AD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compared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09245E-AB4B-BEEF-7FE0-32EEA05C76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6670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231">
                  <a:extLst>
                    <a:ext uri="{9D8B030D-6E8A-4147-A177-3AD203B41FA5}">
                      <a16:colId xmlns:a16="http://schemas.microsoft.com/office/drawing/2014/main" val="28898679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64190910"/>
                    </a:ext>
                  </a:extLst>
                </a:gridCol>
                <a:gridCol w="1652954">
                  <a:extLst>
                    <a:ext uri="{9D8B030D-6E8A-4147-A177-3AD203B41FA5}">
                      <a16:colId xmlns:a16="http://schemas.microsoft.com/office/drawing/2014/main" val="2606939404"/>
                    </a:ext>
                  </a:extLst>
                </a:gridCol>
                <a:gridCol w="1664677">
                  <a:extLst>
                    <a:ext uri="{9D8B030D-6E8A-4147-A177-3AD203B41FA5}">
                      <a16:colId xmlns:a16="http://schemas.microsoft.com/office/drawing/2014/main" val="927473583"/>
                    </a:ext>
                  </a:extLst>
                </a:gridCol>
                <a:gridCol w="1670538">
                  <a:extLst>
                    <a:ext uri="{9D8B030D-6E8A-4147-A177-3AD203B41FA5}">
                      <a16:colId xmlns:a16="http://schemas.microsoft.com/office/drawing/2014/main" val="3939499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68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Logistic regression (default threshold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95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Logistic regression (ideal threshold 0.311)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73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Random Forest (default tuning)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(tied)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502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920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(ideal number of rounds)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39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(more ideal params)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(tied)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95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K-nearest Neighbor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84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K-nearest Neighbor (scaled)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5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Neural network (just 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5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Neural network (</a:t>
                      </a:r>
                      <a:r>
                        <a:rPr lang="en-US" dirty="0" err="1"/>
                        <a:t>Tensorflow</a:t>
                      </a:r>
                      <a:r>
                        <a:rPr lang="en-US" dirty="0"/>
                        <a:t>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297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485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7A2EA-03AB-FE35-3F93-261B555A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32215-97F7-ECCF-52CB-305B2954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Forest, </a:t>
            </a:r>
            <a:r>
              <a:rPr lang="en-US" dirty="0" err="1"/>
              <a:t>XGBoost</a:t>
            </a:r>
            <a:r>
              <a:rPr lang="en-US" dirty="0"/>
              <a:t> and the </a:t>
            </a:r>
            <a:r>
              <a:rPr lang="en-US" dirty="0" err="1"/>
              <a:t>Keras</a:t>
            </a:r>
            <a:r>
              <a:rPr lang="en-US" dirty="0"/>
              <a:t> Neural Network are all nearly identical in high performance </a:t>
            </a:r>
          </a:p>
          <a:p>
            <a:pPr lvl="1"/>
            <a:r>
              <a:rPr lang="en-US" dirty="0"/>
              <a:t>Likely due to simplicity of 2 features and relatively small dataset</a:t>
            </a:r>
          </a:p>
          <a:p>
            <a:pPr lvl="2"/>
            <a:r>
              <a:rPr lang="en-US" dirty="0"/>
              <a:t>In larger and more complex datasets, more daylight would likely appear and </a:t>
            </a:r>
            <a:r>
              <a:rPr lang="en-US" dirty="0" err="1"/>
              <a:t>XGBoost</a:t>
            </a:r>
            <a:r>
              <a:rPr lang="en-US" dirty="0"/>
              <a:t> and NN might outperform RF</a:t>
            </a:r>
          </a:p>
          <a:p>
            <a:pPr lvl="1"/>
            <a:r>
              <a:rPr lang="en-US" dirty="0"/>
              <a:t>In this case, </a:t>
            </a:r>
            <a:r>
              <a:rPr lang="en-US" dirty="0" err="1"/>
              <a:t>XGBoost</a:t>
            </a:r>
            <a:r>
              <a:rPr lang="en-US" dirty="0"/>
              <a:t> and Random Forest does have benefit of running natively in r and being most explainable (RF slightly more than XGB)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9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934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Classification Algos compared</vt:lpstr>
      <vt:lpstr>Data and methodology</vt:lpstr>
      <vt:lpstr>Customer Data</vt:lpstr>
      <vt:lpstr>Algorithms</vt:lpstr>
      <vt:lpstr>Logistic regression</vt:lpstr>
      <vt:lpstr>Random Forest</vt:lpstr>
      <vt:lpstr>XGBoost</vt:lpstr>
      <vt:lpstr>XGBoost performance boost</vt:lpstr>
      <vt:lpstr>K Nearest Neighbor</vt:lpstr>
      <vt:lpstr>Neural Networks</vt:lpstr>
      <vt:lpstr>Neural Networks – 2 approaches</vt:lpstr>
      <vt:lpstr>Algorithms compared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Rauch, David (DCWP)</dc:creator>
  <cp:lastModifiedBy>Rauch, David (DCWP)</cp:lastModifiedBy>
  <cp:revision>2</cp:revision>
  <dcterms:created xsi:type="dcterms:W3CDTF">2025-12-04T19:53:59Z</dcterms:created>
  <dcterms:modified xsi:type="dcterms:W3CDTF">2025-12-09T16:42:20Z</dcterms:modified>
</cp:coreProperties>
</file>